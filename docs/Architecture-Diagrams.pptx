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749808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658368"/>
            <a:ext cx="100584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Microsoft Fabric Workspace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4475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C3DC"/>
                </a:solidFill>
              </a:rPr>
              <a:t>PR-Based Workspace Provisioning — Architecture Diagrams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331720"/>
            <a:ext cx="3474720" cy="56692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✅  Paid Capacity  (F-SKU / P-SKU)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331720"/>
            <a:ext cx="3657600" cy="566928"/>
          </a:xfrm>
          <a:prstGeom prst="roundRect">
            <a:avLst/>
          </a:prstGeom>
          <a:solidFill>
            <a:srgbClr val="C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🧪  Fabric Trial Capacity  (60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9601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8D4"/>
                </a:solidFill>
              </a:rPr>
              <a:t>Slide 2  </a:t>
            </a:r>
            <a:r>
              <a:rPr sz="1000">
                <a:solidFill>
                  <a:srgbClr val="BED2E1"/>
                </a:solidFill>
              </a:rPr>
              <a:t>Visual Architecture — Paid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39312"/>
            <a:ext cx="9601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8D4"/>
                </a:solidFill>
              </a:rPr>
              <a:t>Slide 3  </a:t>
            </a:r>
            <a:r>
              <a:rPr sz="1000">
                <a:solidFill>
                  <a:srgbClr val="BED2E1"/>
                </a:solidFill>
              </a:rPr>
              <a:t>Visual Architecture — Fabric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32504"/>
            <a:ext cx="9601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8D4"/>
                </a:solidFill>
              </a:rPr>
              <a:t>Slide 4  </a:t>
            </a:r>
            <a:r>
              <a:rPr sz="1000">
                <a:solidFill>
                  <a:srgbClr val="BED2E1"/>
                </a:solidFill>
              </a:rPr>
              <a:t>Mermaid Diagram — Paid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25696"/>
            <a:ext cx="96012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78D4"/>
                </a:solidFill>
              </a:rPr>
              <a:t>Slide 5  </a:t>
            </a:r>
            <a:r>
              <a:rPr sz="1000">
                <a:solidFill>
                  <a:srgbClr val="BED2E1"/>
                </a:solidFill>
              </a:rPr>
              <a:t>Mermaid Diagram — Fabric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172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6AABE"/>
                </a:solidFill>
              </a:rPr>
              <a:t>Orange 🧪 slides highlight Trial-specific differences from paid F-SKU capacity.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4864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Paid Capacity Architecture — F-SKU / P-SKU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73152"/>
            <a:ext cx="2377440" cy="34747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✅ F-SKU / P-SKU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" y="566928"/>
            <a:ext cx="7040880" cy="3438144"/>
          </a:xfrm>
          <a:prstGeom prst="rect">
            <a:avLst/>
          </a:prstGeom>
          <a:solidFill>
            <a:srgbClr val="F6F8FA"/>
          </a:solidFill>
          <a:ln w="9525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566928"/>
            <a:ext cx="7040880" cy="347472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GitHub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566928"/>
            <a:ext cx="4864608" cy="3438144"/>
          </a:xfrm>
          <a:prstGeom prst="rect">
            <a:avLst/>
          </a:prstGeom>
          <a:solidFill>
            <a:srgbClr val="DEEEF9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566928"/>
            <a:ext cx="4864608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Azure Entra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4059936"/>
            <a:ext cx="7223760" cy="2697480"/>
          </a:xfrm>
          <a:prstGeom prst="rect">
            <a:avLst/>
          </a:prstGeom>
          <a:solidFill>
            <a:srgbClr val="F3EAFD"/>
          </a:solidFill>
          <a:ln w="9525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4059936"/>
            <a:ext cx="7223760" cy="347472"/>
          </a:xfrm>
          <a:prstGeom prst="rect">
            <a:avLst/>
          </a:prstGeom>
          <a:solidFill>
            <a:srgbClr val="741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Microsoft Fabric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7" y="4059936"/>
            <a:ext cx="4663440" cy="2697480"/>
          </a:xfrm>
          <a:prstGeom prst="rect">
            <a:avLst/>
          </a:prstGeom>
          <a:solidFill>
            <a:srgbClr val="FFF4E5"/>
          </a:solidFill>
          <a:ln w="952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24927" y="4059936"/>
            <a:ext cx="46634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Azure ARM  (Paid 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1051560"/>
            <a:ext cx="1005840" cy="73152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1616"/>
                </a:solidFill>
              </a:rPr>
              <a:t>👤 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44168" y="1051560"/>
            <a:ext cx="1572768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GitHub PR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YAML manifest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1051560"/>
            <a:ext cx="16916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Actions: Validate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Policy +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051560"/>
            <a:ext cx="2029968" cy="7315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Actions: Provision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Fabric 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1965960"/>
            <a:ext cx="1005840" cy="7315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🔒 Prot.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Branch + CODEOWNERS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44168" y="1965960"/>
            <a:ext cx="1572768" cy="731520"/>
          </a:xfrm>
          <a:prstGeom prst="roundRect">
            <a:avLst/>
          </a:prstGeom>
          <a:solidFill>
            <a:srgbClr val="FFFCE4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Approve &amp; Merge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PR review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691640" cy="7315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🖥 Runner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Self-hosted macOS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965960"/>
            <a:ext cx="2029968" cy="7315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Prod Env Gate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Required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" y="2852928"/>
            <a:ext cx="6748272" cy="896112"/>
          </a:xfrm>
          <a:prstGeom prst="roundRect">
            <a:avLst/>
          </a:prstGeom>
          <a:solidFill>
            <a:srgbClr val="DEEEF9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8D4"/>
                </a:solidFill>
              </a:rPr>
              <a:t>🔑  OIDC Federated Auth  —  No secrets stored in GitHub</a:t>
            </a:r>
          </a:p>
          <a:p>
            <a:pPr algn="ctr"/>
            <a:r>
              <a:rPr sz="700" b="0">
                <a:solidFill>
                  <a:srgbClr val="161616"/>
                </a:solidFill>
              </a:rPr>
              <a:t>GitHub Actions exchanges a short-lived OIDC token for an Entra ID JWT at runtime (3 credentials: PR · main · production)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024128"/>
            <a:ext cx="2084831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App Registration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gh-fabric-workspace-provisioner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1024128"/>
            <a:ext cx="239572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Service Principal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SPN object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38528"/>
            <a:ext cx="2084831" cy="749808"/>
          </a:xfrm>
          <a:prstGeom prst="roundRect">
            <a:avLst/>
          </a:prstGeom>
          <a:solidFill>
            <a:srgbClr val="DEEEF9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OIDC Creds × 3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PR · main ·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938528"/>
            <a:ext cx="239572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Security Group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sg-fabric-workspace-provisioner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852928"/>
            <a:ext cx="4636008" cy="896112"/>
          </a:xfrm>
          <a:prstGeom prst="roundRect">
            <a:avLst/>
          </a:prstGeom>
          <a:solidFill>
            <a:srgbClr val="DEEEF9"/>
          </a:solidFill>
          <a:ln w="1016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56B"/>
                </a:solidFill>
              </a:rPr>
              <a:t>Fabric Administrator Role  (Entra ID)</a:t>
            </a:r>
          </a:p>
          <a:p>
            <a:pPr algn="ctr"/>
            <a:r>
              <a:rPr sz="700" b="0">
                <a:solidFill>
                  <a:srgbClr val="161616"/>
                </a:solidFill>
              </a:rPr>
              <a:t>Assigned to the Service Principal → enables Fabric admin API calls (workspace, domain, capacity assignment)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" y="4526280"/>
            <a:ext cx="1828800" cy="896112"/>
          </a:xfrm>
          <a:prstGeom prst="roundRect">
            <a:avLst/>
          </a:prstGeom>
          <a:solidFill>
            <a:srgbClr val="F3EAFD"/>
          </a:solidFill>
          <a:ln w="15240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🔧 Admin Portal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Tenant settings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76272" y="4526280"/>
            <a:ext cx="2267712" cy="896112"/>
          </a:xfrm>
          <a:prstGeom prst="roundRect">
            <a:avLst/>
          </a:prstGeom>
          <a:solidFill>
            <a:srgbClr val="F3EAFD"/>
          </a:solidFill>
          <a:ln w="15240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Tenant Settings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4 SPN API settings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526280"/>
            <a:ext cx="2450592" cy="896112"/>
          </a:xfrm>
          <a:prstGeom prst="roundRect">
            <a:avLst/>
          </a:prstGeom>
          <a:solidFill>
            <a:srgbClr val="F3EAFD"/>
          </a:solidFill>
          <a:ln w="15240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⬡ Capacity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F-SKU / P-SKU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" y="5650992"/>
            <a:ext cx="6949440" cy="10058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7C10"/>
                </a:solidFill>
              </a:rPr>
              <a:t>✅  New Workspace Provisioned</a:t>
            </a:r>
          </a:p>
          <a:p>
            <a:pPr algn="ctr"/>
            <a:r>
              <a:rPr sz="750" b="0">
                <a:solidFill>
                  <a:srgbClr val="161616"/>
                </a:solidFill>
              </a:rPr>
              <a:t>Owner assigned · Capacity assigned · Tenant policy applied via Security Group scoping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7808" y="4526280"/>
            <a:ext cx="1828800" cy="896112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ARM API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az resource patch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9488" y="4526280"/>
            <a:ext cx="2286000" cy="896112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Subscription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Azure resource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07808" y="5650992"/>
            <a:ext cx="4297680" cy="100584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8C00"/>
                </a:solidFill>
              </a:rPr>
              <a:t>az resource patch → capacity.administration.members[]</a:t>
            </a:r>
          </a:p>
          <a:p>
            <a:pPr algn="ctr"/>
            <a:r>
              <a:rPr sz="700" b="0">
                <a:solidFill>
                  <a:srgbClr val="161616"/>
                </a:solidFill>
              </a:rPr>
              <a:t>Adds SPN GUID as Capacity Admin. Also available via Fabric Admin Portal (works for Trial too).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70432" y="1417320"/>
            <a:ext cx="173736" cy="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8660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</a:rPr>
              <a:t>opens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16936" y="1417320"/>
            <a:ext cx="146304" cy="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441448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</a:rPr>
              <a:t>triggers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54880" y="1417320"/>
            <a:ext cx="137160" cy="0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74820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on merge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70432" y="2331720"/>
            <a:ext cx="173736" cy="0"/>
          </a:xfrm>
          <a:prstGeom prst="line">
            <a:avLst/>
          </a:prstGeom>
          <a:ln w="15240">
            <a:solidFill>
              <a:srgbClr val="24292F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16936" y="2331720"/>
            <a:ext cx="146304" cy="0"/>
          </a:xfrm>
          <a:prstGeom prst="line">
            <a:avLst/>
          </a:prstGeom>
          <a:ln w="15240">
            <a:solidFill>
              <a:srgbClr val="24292F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907024" y="1783080"/>
            <a:ext cx="0" cy="182880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58384" y="17373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approved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3904487" y="1783080"/>
            <a:ext cx="0" cy="182880"/>
          </a:xfrm>
          <a:prstGeom prst="line">
            <a:avLst/>
          </a:prstGeom>
          <a:ln w="15240">
            <a:solidFill>
              <a:srgbClr val="24292F"/>
            </a:solidFill>
            <a:headEnd type="arrow" w="sm" len="med"/>
            <a:tailEnd type="none"/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78224" y="2304288"/>
            <a:ext cx="3236976" cy="54864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148072" y="24414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</a:rPr>
              <a:t>OIDC auth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5907024" y="2304288"/>
            <a:ext cx="1536192" cy="548640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639312" y="1417320"/>
            <a:ext cx="2267712" cy="4233672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224528" y="33969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REST API → creates workspace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09176" y="1417320"/>
            <a:ext cx="146304" cy="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555480" y="1773936"/>
            <a:ext cx="0" cy="164592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753344" y="1773936"/>
            <a:ext cx="0" cy="164592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224528" y="2743200"/>
            <a:ext cx="5422392" cy="1783080"/>
          </a:xfrm>
          <a:prstGeom prst="line">
            <a:avLst/>
          </a:prstGeom>
          <a:ln w="15240">
            <a:solidFill>
              <a:srgbClr val="74196E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87084" y="34975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74196E"/>
                </a:solidFill>
              </a:rPr>
              <a:t>scopes tenant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3511296" y="3749039"/>
            <a:ext cx="6135624" cy="1901953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30468" y="4562855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enables admin API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224528" y="4974336"/>
            <a:ext cx="347472" cy="0"/>
          </a:xfrm>
          <a:prstGeom prst="line">
            <a:avLst/>
          </a:prstGeom>
          <a:ln w="15240">
            <a:solidFill>
              <a:srgbClr val="74196E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5193792" y="5422392"/>
            <a:ext cx="749808" cy="228600"/>
          </a:xfrm>
          <a:prstGeom prst="line">
            <a:avLst/>
          </a:prstGeom>
          <a:ln w="15240">
            <a:solidFill>
              <a:srgbClr val="74196E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020056" y="5399531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74196E"/>
                </a:solidFill>
              </a:rPr>
              <a:t>assigned to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5925312" y="4526280"/>
            <a:ext cx="2596896" cy="448056"/>
          </a:xfrm>
          <a:prstGeom prst="line">
            <a:avLst/>
          </a:prstGeom>
          <a:ln w="15240">
            <a:solidFill>
              <a:srgbClr val="FF8C0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675120" y="46131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F8C00"/>
                </a:solidFill>
              </a:rPr>
              <a:t>adds SPN as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C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4864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Trial Capacity Architecture — 🧪 Fabric Trial (60 days free)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73152"/>
            <a:ext cx="2377440" cy="347472"/>
          </a:xfrm>
          <a:prstGeom prst="roundRect">
            <a:avLst/>
          </a:prstGeom>
          <a:solidFill>
            <a:srgbClr val="C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🧪 Fabric Trial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" y="566928"/>
            <a:ext cx="7040880" cy="3438144"/>
          </a:xfrm>
          <a:prstGeom prst="rect">
            <a:avLst/>
          </a:prstGeom>
          <a:solidFill>
            <a:srgbClr val="F6F8FA"/>
          </a:solidFill>
          <a:ln w="9525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566928"/>
            <a:ext cx="7040880" cy="347472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GitHub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566928"/>
            <a:ext cx="4864608" cy="3438144"/>
          </a:xfrm>
          <a:prstGeom prst="rect">
            <a:avLst/>
          </a:prstGeom>
          <a:solidFill>
            <a:srgbClr val="DEEEF9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566928"/>
            <a:ext cx="4864608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Azure Entra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" y="4059936"/>
            <a:ext cx="12088368" cy="2697480"/>
          </a:xfrm>
          <a:prstGeom prst="rect">
            <a:avLst/>
          </a:prstGeom>
          <a:solidFill>
            <a:srgbClr val="F3EAFD"/>
          </a:solidFill>
          <a:ln w="9525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4059936"/>
            <a:ext cx="12088368" cy="347472"/>
          </a:xfrm>
          <a:prstGeom prst="rect">
            <a:avLst/>
          </a:prstGeom>
          <a:solidFill>
            <a:srgbClr val="741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  Microsoft Fabric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7" y="4059936"/>
            <a:ext cx="4663440" cy="2697480"/>
          </a:xfrm>
          <a:prstGeom prst="rect">
            <a:avLst/>
          </a:prstGeom>
          <a:solidFill>
            <a:srgbClr val="FDE9D9"/>
          </a:solidFill>
          <a:ln w="15240">
            <a:solidFill>
              <a:srgbClr val="C5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161616"/>
                </a:solidFill>
              </a:rPr>
              <a:t>❌  No Azure ARM API available</a:t>
            </a:r>
          </a:p>
          <a:p>
            <a:pPr algn="l"/>
            <a:r>
              <a:rPr sz="900" b="1">
                <a:solidFill>
                  <a:srgbClr val="107C10"/>
                </a:solidFill>
              </a:rPr>
              <a:t>✅  Add SPN as Capacity Admin via:</a:t>
            </a:r>
          </a:p>
          <a:p>
            <a:pPr algn="l"/>
            <a:r>
              <a:rPr sz="800" b="0">
                <a:solidFill>
                  <a:srgbClr val="161616"/>
                </a:solidFill>
              </a:rPr>
              <a:t>     Fabric Admin Portal → Capacities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00" b="1">
                <a:solidFill>
                  <a:srgbClr val="C55000"/>
                </a:solidFill>
              </a:rPr>
              <a:t>⚠️  Trial expires after 60 days</a:t>
            </a:r>
          </a:p>
          <a:p>
            <a:pPr algn="l"/>
            <a:r>
              <a:rPr sz="800" b="0">
                <a:solidFill>
                  <a:srgbClr val="161616"/>
                </a:solidFill>
              </a:rPr>
              <a:t>   Update FABRIC_CAPACITY_ID var</a:t>
            </a:r>
          </a:p>
          <a:p>
            <a:pPr algn="l"/>
            <a:r>
              <a:rPr sz="800" b="0">
                <a:solidFill>
                  <a:srgbClr val="161616"/>
                </a:solidFill>
              </a:rPr>
              <a:t>   when switching to paid capacity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800" b="0">
                <a:solidFill>
                  <a:srgbClr val="107C10"/>
                </a:solidFill>
              </a:rPr>
              <a:t>💡  All other steps are identical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4927" y="4059936"/>
            <a:ext cx="4663440" cy="347472"/>
          </a:xfrm>
          <a:prstGeom prst="rect">
            <a:avLst/>
          </a:prstGeom>
          <a:solidFill>
            <a:srgbClr val="C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  🧪 Trial Capacity — Key Differences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1051560"/>
            <a:ext cx="1005840" cy="73152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1616"/>
                </a:solidFill>
              </a:rPr>
              <a:t>👤 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44168" y="1051560"/>
            <a:ext cx="1572768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GitHub PR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YAML manifest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1051560"/>
            <a:ext cx="16916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Actions: Validate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Policy +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051560"/>
            <a:ext cx="2029968" cy="7315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Actions: Provision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Fabric 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1965960"/>
            <a:ext cx="1005840" cy="7315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🔒 Prot.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Branch + CODEOWNERS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44168" y="1965960"/>
            <a:ext cx="1572768" cy="731520"/>
          </a:xfrm>
          <a:prstGeom prst="roundRect">
            <a:avLst/>
          </a:prstGeom>
          <a:solidFill>
            <a:srgbClr val="FFFCE4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Approve &amp; Merge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PR review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691640" cy="7315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24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🖥 Runner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Self-hosted macOS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965960"/>
            <a:ext cx="2029968" cy="7315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Prod Env Gate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Required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" y="2852928"/>
            <a:ext cx="6748272" cy="896112"/>
          </a:xfrm>
          <a:prstGeom prst="roundRect">
            <a:avLst/>
          </a:prstGeom>
          <a:solidFill>
            <a:srgbClr val="DEEEF9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8D4"/>
                </a:solidFill>
              </a:rPr>
              <a:t>🔑  OIDC Federated Auth  —  No secrets stored in GitHub</a:t>
            </a:r>
          </a:p>
          <a:p>
            <a:pPr algn="ctr"/>
            <a:r>
              <a:rPr sz="700" b="0">
                <a:solidFill>
                  <a:srgbClr val="161616"/>
                </a:solidFill>
              </a:rPr>
              <a:t>GitHub Actions exchanges a short-lived OIDC token for an Entra ID JWT at runtime (3 credentials: PR · main · production)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024128"/>
            <a:ext cx="2084831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App Registration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gh-fabric-workspace-provisioner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1024128"/>
            <a:ext cx="239572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Service Principal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SPN object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38528"/>
            <a:ext cx="2084831" cy="749808"/>
          </a:xfrm>
          <a:prstGeom prst="roundRect">
            <a:avLst/>
          </a:prstGeom>
          <a:solidFill>
            <a:srgbClr val="DEEEF9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OIDC Creds × 3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PR · main ·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938528"/>
            <a:ext cx="2395728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Security Group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sg-fabric-workspace-provisioner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852928"/>
            <a:ext cx="4636008" cy="896112"/>
          </a:xfrm>
          <a:prstGeom prst="roundRect">
            <a:avLst/>
          </a:prstGeom>
          <a:solidFill>
            <a:srgbClr val="DEEEF9"/>
          </a:solidFill>
          <a:ln w="1016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56B"/>
                </a:solidFill>
              </a:rPr>
              <a:t>Fabric Administrator Role  (Entra ID)</a:t>
            </a:r>
          </a:p>
          <a:p>
            <a:pPr algn="ctr"/>
            <a:r>
              <a:rPr sz="700" b="0">
                <a:solidFill>
                  <a:srgbClr val="161616"/>
                </a:solidFill>
              </a:rPr>
              <a:t>Assigned to the Service Principal → enables Fabric admin API calls (workspace, domain, capacity assignment)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" y="4526280"/>
            <a:ext cx="1828800" cy="896112"/>
          </a:xfrm>
          <a:prstGeom prst="roundRect">
            <a:avLst/>
          </a:prstGeom>
          <a:solidFill>
            <a:srgbClr val="F3EAFD"/>
          </a:solidFill>
          <a:ln w="15240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🔧 Admin Portal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Tenant settings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76272" y="4526280"/>
            <a:ext cx="2267712" cy="896112"/>
          </a:xfrm>
          <a:prstGeom prst="roundRect">
            <a:avLst/>
          </a:prstGeom>
          <a:solidFill>
            <a:srgbClr val="F3EAFD"/>
          </a:solidFill>
          <a:ln w="15240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Tenant Settings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4 SPN API settings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526280"/>
            <a:ext cx="2450592" cy="896112"/>
          </a:xfrm>
          <a:prstGeom prst="roundRect">
            <a:avLst/>
          </a:prstGeom>
          <a:solidFill>
            <a:srgbClr val="F3EAFD"/>
          </a:solidFill>
          <a:ln w="15240">
            <a:solidFill>
              <a:srgbClr val="741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61616"/>
                </a:solidFill>
              </a:rPr>
              <a:t>⬡ Capacity</a:t>
            </a:r>
          </a:p>
          <a:p>
            <a:pPr algn="ctr"/>
            <a:r>
              <a:rPr sz="700" b="0">
                <a:solidFill>
                  <a:srgbClr val="606060"/>
                </a:solidFill>
              </a:rPr>
              <a:t>🧪 Trial (60d)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" y="5650992"/>
            <a:ext cx="6949440" cy="10058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7C10"/>
                </a:solidFill>
              </a:rPr>
              <a:t>✅  New Workspace Provisioned</a:t>
            </a:r>
          </a:p>
          <a:p>
            <a:pPr algn="ctr"/>
            <a:r>
              <a:rPr sz="750" b="0">
                <a:solidFill>
                  <a:srgbClr val="161616"/>
                </a:solidFill>
              </a:rPr>
              <a:t>Owner assigned · Capacity assigned · Tenant policy applied via Security Group scoping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70432" y="1417320"/>
            <a:ext cx="173736" cy="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8660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</a:rPr>
              <a:t>opens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16936" y="1417320"/>
            <a:ext cx="146304" cy="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41448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</a:rPr>
              <a:t>triggers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54880" y="1417320"/>
            <a:ext cx="137160" cy="0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74820" y="12801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on merge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70432" y="2331720"/>
            <a:ext cx="173736" cy="0"/>
          </a:xfrm>
          <a:prstGeom prst="line">
            <a:avLst/>
          </a:prstGeom>
          <a:ln w="15240">
            <a:solidFill>
              <a:srgbClr val="24292F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16936" y="2331720"/>
            <a:ext cx="146304" cy="0"/>
          </a:xfrm>
          <a:prstGeom prst="line">
            <a:avLst/>
          </a:prstGeom>
          <a:ln w="15240">
            <a:solidFill>
              <a:srgbClr val="24292F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907024" y="1783080"/>
            <a:ext cx="0" cy="182880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58384" y="173736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approved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904487" y="1783080"/>
            <a:ext cx="0" cy="182880"/>
          </a:xfrm>
          <a:prstGeom prst="line">
            <a:avLst/>
          </a:prstGeom>
          <a:ln w="15240">
            <a:solidFill>
              <a:srgbClr val="24292F"/>
            </a:solidFill>
            <a:headEnd type="arrow" w="sm" len="med"/>
            <a:tailEnd type="none"/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78224" y="2304288"/>
            <a:ext cx="3236976" cy="54864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48072" y="24414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</a:rPr>
              <a:t>OIDC auth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5907024" y="2304288"/>
            <a:ext cx="1536192" cy="548640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arrow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639312" y="1417320"/>
            <a:ext cx="2267712" cy="4233672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224528" y="33969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REST API → creates workspace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409176" y="1417320"/>
            <a:ext cx="146304" cy="0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555480" y="1773936"/>
            <a:ext cx="0" cy="164592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753344" y="1773936"/>
            <a:ext cx="0" cy="164592"/>
          </a:xfrm>
          <a:prstGeom prst="line">
            <a:avLst/>
          </a:prstGeom>
          <a:ln w="15240">
            <a:solidFill>
              <a:srgbClr val="0078D4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224528" y="2743200"/>
            <a:ext cx="5422392" cy="1783080"/>
          </a:xfrm>
          <a:prstGeom prst="line">
            <a:avLst/>
          </a:prstGeom>
          <a:ln w="15240">
            <a:solidFill>
              <a:srgbClr val="74196E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387084" y="349758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74196E"/>
                </a:solidFill>
              </a:rPr>
              <a:t>scopes tenant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3511296" y="3749039"/>
            <a:ext cx="6135624" cy="1901953"/>
          </a:xfrm>
          <a:prstGeom prst="line">
            <a:avLst/>
          </a:prstGeom>
          <a:ln w="15240">
            <a:solidFill>
              <a:srgbClr val="107C10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30468" y="4562855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107C10"/>
                </a:solidFill>
              </a:rPr>
              <a:t>enables admin API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224528" y="4974336"/>
            <a:ext cx="347472" cy="0"/>
          </a:xfrm>
          <a:prstGeom prst="line">
            <a:avLst/>
          </a:prstGeom>
          <a:ln w="15240">
            <a:solidFill>
              <a:srgbClr val="74196E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5193792" y="5422392"/>
            <a:ext cx="749808" cy="228600"/>
          </a:xfrm>
          <a:prstGeom prst="line">
            <a:avLst/>
          </a:prstGeom>
          <a:ln w="15240">
            <a:solidFill>
              <a:srgbClr val="74196E"/>
            </a:solidFill>
            <a:headEnd type="arrow" w="sm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0056" y="5399531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74196E"/>
                </a:solidFill>
              </a:rPr>
              <a:t>assigned 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4008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Mermaid Diagram — Paid Capacity  </a:t>
            </a:r>
            <a:r>
              <a:rPr sz="1000">
                <a:solidFill>
                  <a:srgbClr val="C8C8C8"/>
                </a:solidFill>
              </a:rPr>
              <a:t>F-SKU / P-SKU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"/>
            <a:ext cx="11064240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C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4008"/>
            <a:ext cx="329184" cy="329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Mermaid Diagram — Fabric Trial  </a:t>
            </a:r>
            <a:r>
              <a:rPr sz="1000">
                <a:solidFill>
                  <a:srgbClr val="C8C8C8"/>
                </a:solidFill>
              </a:rPr>
              <a:t>60-day free trial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3504"/>
            <a:ext cx="11064240" cy="6108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